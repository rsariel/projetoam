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Atributos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B1E2F"/>
              </a:solidFill>
              <a:effectLst/>
            </c:spPr>
          </c:dPt>
          <c:dPt>
            <c:idx val="1"/>
            <c:bubble3D val="0"/>
            <c:spPr>
              <a:solidFill>
                <a:srgbClr val="434343"/>
              </a:solidFill>
              <a:effectLst/>
            </c:spPr>
          </c:dPt>
          <c:dPt>
            <c:idx val="2"/>
            <c:bubble3D val="0"/>
            <c:spPr>
              <a:solidFill>
                <a:srgbClr val="8C8C8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Frequência de palavras (48)</c:v>
                </c:pt>
                <c:pt idx="1">
                  <c:v>Frequência de caracteres (6)</c:v>
                </c:pt>
                <c:pt idx="2">
                  <c:v>Sequências de maiúsculas (3)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48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3434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Aprendizagem de Máquina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Agrupamento e classificação de e-mails na base Spambase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Peruniz de Oliveira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Rodrigues Sousa dos Santos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Felipe Torres de Macedo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Mendonça Aguiar</a:t>
            </a:r>
            <a:endParaRPr lang="en-US" sz="1200" dirty="0"/>
          </a:p>
        </p:txBody>
      </p:sp>
      <p:pic>
        <p:nvPicPr>
          <p:cNvPr id="5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1965960" cy="585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Trabalho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DB1E2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417320" y="14173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as classes por agrupamento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18013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separa os e-mails em grupos, no lugar do rótulo original de spam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DB1E2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468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cinco classificadores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852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Decisão, Naive Bayes, Regressão Logística, KNN e Random Forest, sob o mesmo protocolo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DB1E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520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curvas de aprendizagem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904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como cada modelo evolui conforme a quantidade de dados de treino aumenta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Dados: Spambase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5544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4.601 e-mails, 57 atributos contínuos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valores faltantes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■"/>
            </a:pPr>
            <a:r>
              <a:rPr lang="en-US" sz="15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padronizados (média 0, desvio 1) antes da modelagem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389120" y="128016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 Comparação Justa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9659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EFEFE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80% / 20%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Divisão estratificada; o teste fica isolado desde o início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017520" y="196596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3337560" y="19659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EFEFE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52044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cruzada (5 folds)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de hiperparâmetros feita só dentro do treino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1965960"/>
            <a:ext cx="320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9"/>
          <p:cNvSpPr/>
          <p:nvPr/>
        </p:nvSpPr>
        <p:spPr>
          <a:xfrm>
            <a:off x="6126480" y="196596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EFEFE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309360" y="21945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única no teste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30936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Precision, recall e F1-score, sem retocar hiperparâmetros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Grupos? Escolha de k*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7373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executado 100 vezes para k = 2, 3, 4 e 5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Mantido apenas o modelo de menor inércia em cada k</a:t>
            </a:r>
            <a:endParaRPr lang="en-US" sz="1500" dirty="0"/>
          </a:p>
          <a:p>
            <a:pPr algn="l" marL="228600" indent="-228600"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k* é o valor de k com maior silhueta</a:t>
            </a:r>
            <a:endParaRPr lang="en-US" sz="1500" dirty="0"/>
          </a:p>
        </p:txBody>
      </p:sp>
      <p:pic>
        <p:nvPicPr>
          <p:cNvPr id="6" name="Image 2" descr="assets/silhue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297305"/>
            <a:ext cx="466344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Agrupamento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0" y="1234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k* = 2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0" y="2331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silhueta: 0,66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4.567 e-mails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1: 99,3%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e-mails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2: 0,7%</a:t>
            </a:r>
            <a:endParaRPr lang="en-US" sz="1300" dirty="0"/>
          </a:p>
        </p:txBody>
      </p:sp>
      <p:pic>
        <p:nvPicPr>
          <p:cNvPr id="9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1965960" cy="585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de Hiperparâmetros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051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com validação cruzada estratificada (5 folds), otimizando o F1 ponderado, apenas no conjunto de treino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4297680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B1E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Combinações testadas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B1E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Melhor configuração encontrada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B1E2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Árvore de Decisão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profundidade máxima 3, critério entropy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Bayes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var_smoothing = 1e-07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Regressão Logística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= 0,1, penalização l2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vizinhos, distância euclidiana, peso por distância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343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árvores, profundidade máxima 5, classes balanceadas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dos Classificadores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pic>
        <p:nvPicPr>
          <p:cNvPr id="5" name="Image 2" descr="assets/comparac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760720" cy="345643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62940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1,000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6629400" y="1901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Decisão, Random Forest e KNN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62940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0,999</a:t>
            </a:r>
            <a:endParaRPr lang="en-US" sz="2200" dirty="0"/>
          </a:p>
        </p:txBody>
      </p:sp>
      <p:sp>
        <p:nvSpPr>
          <p:cNvPr id="9" name="Text 4"/>
          <p:cNvSpPr txBox="1"/>
          <p:nvPr/>
        </p:nvSpPr>
        <p:spPr>
          <a:xfrm>
            <a:off x="6629400" y="3044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Logística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629400" y="3749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0,959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6629400" y="4187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(o mais fraco)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Aprendizagem (F1-score)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pic>
        <p:nvPicPr>
          <p:cNvPr id="5" name="Image 2" descr="assets/curva_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050"/>
            <a:ext cx="5943600" cy="2971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766560" y="164592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converge para F1 quase perfeito com apenas 10% a 15% de treino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acontece porque os clusters, criados pelo próprio K-Means, já são bem separados</a:t>
            </a:r>
            <a:endParaRPr lang="en-US" sz="1300" dirty="0"/>
          </a:p>
          <a:p>
            <a:pPr algn="l" marL="177800" indent="-177800"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é o único que não converge totalmente entre treino e teste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B1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2800" dirty="0"/>
          </a:p>
        </p:txBody>
      </p:sp>
      <p:pic>
        <p:nvPicPr>
          <p:cNvPr id="3" name="Image 0" descr="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92608"/>
            <a:ext cx="1417320" cy="420933"/>
          </a:xfrm>
          <a:prstGeom prst="rect">
            <a:avLst/>
          </a:prstGeom>
        </p:spPr>
      </p:pic>
      <p:pic>
        <p:nvPicPr>
          <p:cNvPr id="4" name="Image 1" descr="assets/watermark_ur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736592"/>
            <a:ext cx="1143000" cy="23770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DB1E2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141732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Empate no topo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18013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Decisão, KNN e Random Forest tiveram desempenho perfeito no teste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DB1E2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468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ficou atrás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8529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suposição de independência entre atributos não se sustenta nesta base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DB1E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3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facilitado pelo desenho do problema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90448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classes vêm do próprio K-Means, que já separa bem os grupos por construção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B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1800" dirty="0"/>
          </a:p>
        </p:txBody>
      </p:sp>
      <p:pic>
        <p:nvPicPr>
          <p:cNvPr id="4" name="Image 0" descr="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43400"/>
            <a:ext cx="1965960" cy="5857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2026-09-29T04:15:07Z</dcterms:created>
  <dcterms:modified xsi:type="dcterms:W3CDTF">2026-09-29T04:15:07Z</dcterms:modified>
</cp:coreProperties>
</file>